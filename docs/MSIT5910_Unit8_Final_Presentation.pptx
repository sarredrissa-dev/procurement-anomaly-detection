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rissa Sarr" userId="0c22627a-2f7a-4a43-8017-0a423cce8701" providerId="ADAL" clId="{8F2BBD39-E014-4BD5-82A6-F43F467CE08B}"/>
    <pc:docChg chg="custSel mod modSld">
      <pc:chgData name="Edrissa Sarr" userId="0c22627a-2f7a-4a43-8017-0a423cce8701" providerId="ADAL" clId="{8F2BBD39-E014-4BD5-82A6-F43F467CE08B}" dt="2026-10-24T08:15:13.555" v="47" actId="14100"/>
      <pc:docMkLst>
        <pc:docMk/>
      </pc:docMkLst>
      <pc:sldChg chg="modNotesTx">
        <pc:chgData name="Edrissa Sarr" userId="0c22627a-2f7a-4a43-8017-0a423cce8701" providerId="ADAL" clId="{8F2BBD39-E014-4BD5-82A6-F43F467CE08B}" dt="2026-10-10T21:56:38.328" v="11" actId="6549"/>
        <pc:sldMkLst>
          <pc:docMk/>
          <pc:sldMk cId="0" sldId="260"/>
        </pc:sldMkLst>
      </pc:sldChg>
      <pc:sldChg chg="modNotesTx">
        <pc:chgData name="Edrissa Sarr" userId="0c22627a-2f7a-4a43-8017-0a423cce8701" providerId="ADAL" clId="{8F2BBD39-E014-4BD5-82A6-F43F467CE08B}" dt="2026-10-10T21:55:12.069" v="1" actId="6549"/>
        <pc:sldMkLst>
          <pc:docMk/>
          <pc:sldMk cId="0" sldId="261"/>
        </pc:sldMkLst>
      </pc:sldChg>
      <pc:sldChg chg="modNotesTx">
        <pc:chgData name="Edrissa Sarr" userId="0c22627a-2f7a-4a43-8017-0a423cce8701" providerId="ADAL" clId="{8F2BBD39-E014-4BD5-82A6-F43F467CE08B}" dt="2026-10-10T21:55:17.620" v="2" actId="6549"/>
        <pc:sldMkLst>
          <pc:docMk/>
          <pc:sldMk cId="0" sldId="262"/>
        </pc:sldMkLst>
      </pc:sldChg>
      <pc:sldChg chg="modNotesTx">
        <pc:chgData name="Edrissa Sarr" userId="0c22627a-2f7a-4a43-8017-0a423cce8701" providerId="ADAL" clId="{8F2BBD39-E014-4BD5-82A6-F43F467CE08B}" dt="2026-10-10T21:55:22.193" v="3" actId="6549"/>
        <pc:sldMkLst>
          <pc:docMk/>
          <pc:sldMk cId="0" sldId="263"/>
        </pc:sldMkLst>
      </pc:sldChg>
      <pc:sldChg chg="addSp delSp modSp mod modNotesTx">
        <pc:chgData name="Edrissa Sarr" userId="0c22627a-2f7a-4a43-8017-0a423cce8701" providerId="ADAL" clId="{8F2BBD39-E014-4BD5-82A6-F43F467CE08B}" dt="2026-10-24T08:15:13.555" v="47" actId="14100"/>
        <pc:sldMkLst>
          <pc:docMk/>
          <pc:sldMk cId="0" sldId="264"/>
        </pc:sldMkLst>
        <pc:spChg chg="mod">
          <ac:chgData name="Edrissa Sarr" userId="0c22627a-2f7a-4a43-8017-0a423cce8701" providerId="ADAL" clId="{8F2BBD39-E014-4BD5-82A6-F43F467CE08B}" dt="2026-10-24T08:13:31.946" v="33" actId="20577"/>
          <ac:spMkLst>
            <pc:docMk/>
            <pc:sldMk cId="0" sldId="264"/>
            <ac:spMk id="35" creationId="{00000000-0000-0000-0000-000000000000}"/>
          </ac:spMkLst>
        </pc:spChg>
        <pc:picChg chg="add del mod">
          <ac:chgData name="Edrissa Sarr" userId="0c22627a-2f7a-4a43-8017-0a423cce8701" providerId="ADAL" clId="{8F2BBD39-E014-4BD5-82A6-F43F467CE08B}" dt="2026-10-24T08:14:46.475" v="34" actId="478"/>
          <ac:picMkLst>
            <pc:docMk/>
            <pc:sldMk cId="0" sldId="264"/>
            <ac:picMk id="39" creationId="{8012F042-9AF9-C54C-7689-16A870D021CB}"/>
          </ac:picMkLst>
        </pc:picChg>
        <pc:picChg chg="del">
          <ac:chgData name="Edrissa Sarr" userId="0c22627a-2f7a-4a43-8017-0a423cce8701" providerId="ADAL" clId="{8F2BBD39-E014-4BD5-82A6-F43F467CE08B}" dt="2026-10-24T06:44:56.562" v="12" actId="478"/>
          <ac:picMkLst>
            <pc:docMk/>
            <pc:sldMk cId="0" sldId="264"/>
            <ac:picMk id="40" creationId="{BA3EEB9B-E158-C5D9-E387-14CD9998C455}"/>
          </ac:picMkLst>
        </pc:picChg>
        <pc:picChg chg="add mod">
          <ac:chgData name="Edrissa Sarr" userId="0c22627a-2f7a-4a43-8017-0a423cce8701" providerId="ADAL" clId="{8F2BBD39-E014-4BD5-82A6-F43F467CE08B}" dt="2026-10-24T08:15:13.555" v="47" actId="14100"/>
          <ac:picMkLst>
            <pc:docMk/>
            <pc:sldMk cId="0" sldId="264"/>
            <ac:picMk id="40" creationId="{FD52CE99-4505-97CC-AEC2-B337FDB6F2A6}"/>
          </ac:picMkLst>
        </pc:picChg>
      </pc:sldChg>
      <pc:sldChg chg="modNotesTx">
        <pc:chgData name="Edrissa Sarr" userId="0c22627a-2f7a-4a43-8017-0a423cce8701" providerId="ADAL" clId="{8F2BBD39-E014-4BD5-82A6-F43F467CE08B}" dt="2026-10-10T21:55:33.238" v="5" actId="6549"/>
        <pc:sldMkLst>
          <pc:docMk/>
          <pc:sldMk cId="0" sldId="265"/>
        </pc:sldMkLst>
      </pc:sldChg>
      <pc:sldChg chg="modNotesTx">
        <pc:chgData name="Edrissa Sarr" userId="0c22627a-2f7a-4a43-8017-0a423cce8701" providerId="ADAL" clId="{8F2BBD39-E014-4BD5-82A6-F43F467CE08B}" dt="2026-10-10T21:55:38.627" v="6" actId="6549"/>
        <pc:sldMkLst>
          <pc:docMk/>
          <pc:sldMk cId="0" sldId="266"/>
        </pc:sldMkLst>
      </pc:sldChg>
      <pc:sldChg chg="modNotesTx">
        <pc:chgData name="Edrissa Sarr" userId="0c22627a-2f7a-4a43-8017-0a423cce8701" providerId="ADAL" clId="{8F2BBD39-E014-4BD5-82A6-F43F467CE08B}" dt="2026-10-10T21:55:42.590" v="7" actId="6549"/>
        <pc:sldMkLst>
          <pc:docMk/>
          <pc:sldMk cId="0" sldId="267"/>
        </pc:sldMkLst>
      </pc:sldChg>
      <pc:sldChg chg="modNotesTx">
        <pc:chgData name="Edrissa Sarr" userId="0c22627a-2f7a-4a43-8017-0a423cce8701" providerId="ADAL" clId="{8F2BBD39-E014-4BD5-82A6-F43F467CE08B}" dt="2026-10-10T21:55:46.195" v="8" actId="6549"/>
        <pc:sldMkLst>
          <pc:docMk/>
          <pc:sldMk cId="0" sldId="268"/>
        </pc:sldMkLst>
      </pc:sldChg>
      <pc:sldChg chg="modNotesTx">
        <pc:chgData name="Edrissa Sarr" userId="0c22627a-2f7a-4a43-8017-0a423cce8701" providerId="ADAL" clId="{8F2BBD39-E014-4BD5-82A6-F43F467CE08B}" dt="2026-10-10T21:55:51.151" v="9" actId="6549"/>
        <pc:sldMkLst>
          <pc:docMk/>
          <pc:sldMk cId="0" sldId="269"/>
        </pc:sldMkLst>
      </pc:sldChg>
      <pc:sldChg chg="modNotesTx">
        <pc:chgData name="Edrissa Sarr" userId="0c22627a-2f7a-4a43-8017-0a423cce8701" providerId="ADAL" clId="{8F2BBD39-E014-4BD5-82A6-F43F467CE08B}" dt="2026-10-10T21:55:54.858" v="10" actId="6549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77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74320" y="3657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"Follow the money. Flag the risk."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3657600" cy="4572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74320" y="17373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Procurement Anomaly Detection System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2331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MSIT 5910 Capstone Project  |  University of the People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26517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Edrissa Sarr  |  Instructor: Dr. Sirisha Pavuluri |  October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3063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github.com/sarredrissa-dev/procurement-anomaly-detection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1600200" cy="82296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74320" y="3703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47,540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" y="40965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93392" y="3657600"/>
            <a:ext cx="1600200" cy="82296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993392" y="3703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2,397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993392" y="40965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12464" y="3657600"/>
            <a:ext cx="1600200" cy="82296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712464" y="3703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66/66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712464" y="40965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31536" y="3657600"/>
            <a:ext cx="1600200" cy="82296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431536" y="3703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 GB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31536" y="40965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0608" y="3657600"/>
            <a:ext cx="1600200" cy="82296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150608" y="3703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40965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 &amp; Problem Statement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government procurement oversight needs automation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22960"/>
            <a:ext cx="420624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822960"/>
            <a:ext cx="4206240" cy="38404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8600" y="886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" y="1280160"/>
            <a:ext cx="39867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procurement represents 12% of GDP in OECD countries — one of the highest-risk areas for financial irregularities.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auditing cannot scale: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Expensive and slow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Covers only a fraction of contracts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Prone to human bias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Unable to detect complex patterns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fraud patterns identified: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Price inflation above market rates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Duplicate vendor registrations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Fiscal year-end spending surges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Contract splitting to avoid thresholds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Single-source contract awards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822960"/>
            <a:ext cx="448056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822960"/>
            <a:ext cx="4480560" cy="384048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17720" y="8869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1280160"/>
            <a:ext cx="42611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USASpending.gov publishes structured open data on ALL federal contracts — millions of records, freely available.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automates oversight by: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Processing 47,540+ contracts in seconds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Detecting 2 anomaly types simultaneously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Generating plain-language risk explanations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Enabling auditor review and feedback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Operating at zero financial cost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 estimates corruption adds 10-25% to contract values — representing hundreds of billions in lost public funds annually.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Project Objectives &amp; Scope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IntegriScan set out to achieve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22960"/>
            <a:ext cx="283464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822960"/>
            <a:ext cx="28346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8600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Relational Database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" y="12801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PostgreSQL schema for procurement records, vendors, contracts, and anomaly flags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36392" y="822960"/>
            <a:ext cx="283464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36392" y="822960"/>
            <a:ext cx="28346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227832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ETL Pipeline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12801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and clean open government procurement datasets from USASpending.gov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35624" y="822960"/>
            <a:ext cx="283464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35624" y="822960"/>
            <a:ext cx="28346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27064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ML Detection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2801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 + z-score algorithms with documented precision/recall metrics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2514600"/>
            <a:ext cx="283464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7160" y="2514600"/>
            <a:ext cx="28346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28600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Web Dashboard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" y="297180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analyst interface with explainable risk factors and feedback mechanism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36392" y="2514600"/>
            <a:ext cx="283464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36392" y="2514600"/>
            <a:ext cx="28346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227832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RBAC Security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246120" y="297180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aligned with OWASP A01:2025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35624" y="2514600"/>
            <a:ext cx="283464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35624" y="2514600"/>
            <a:ext cx="28346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227064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Ethics Policy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45352" y="297180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policy addressing bias, false positives, and privacy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" y="4251960"/>
            <a:ext cx="8869680" cy="2743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228600" y="42702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SCOPE: Real-time streaming  |  Live API integration  |  Mobile app  |  Legal case management  |  Multi-factor authentication (Phase 2 roadmap)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System Architecture &amp; Components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architecture — separation of concerns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502920" cy="594360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37160" y="8046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" y="804672"/>
            <a:ext cx="3657600" cy="594360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04672" y="868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Data Source Layer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1155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USASpending.gov FY2023 DoD Contracts  |  5 CSV files  |  9.3 GB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399032"/>
            <a:ext cx="91440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26280" y="804672"/>
            <a:ext cx="44805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1772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Data License — USASpending.gov public domain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" y="1517904"/>
            <a:ext cx="50292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37160" y="151790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" y="1517904"/>
            <a:ext cx="365760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04672" y="1581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ETL Processing Layer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1828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— pandas + SQLAlchemy  |  10K-row chunks  |  1,299 records/second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112264"/>
            <a:ext cx="91440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26280" y="1517904"/>
            <a:ext cx="4480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617720" y="16733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CONFLICT DO NOTHING prevents duplicate loading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" y="2231136"/>
            <a:ext cx="502920" cy="5943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37160" y="223113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3232" y="2231136"/>
            <a:ext cx="3657600" cy="5943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04672" y="2295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Database Layer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25420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18  |  5 tables  |  3 views  |  26 indexes  |  2 RBAC roles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2825496"/>
            <a:ext cx="91440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26280" y="2231136"/>
            <a:ext cx="44805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617720" y="2386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enforced at DB engine level — OWASP A01:2025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" y="2944368"/>
            <a:ext cx="502920" cy="59436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137160" y="29443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13232" y="2944368"/>
            <a:ext cx="3657600" cy="59436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804672" y="3008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Analytics Layer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" y="32552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Isolation Forest (contamination=0.05) + Z-Score baseline  |  XAI engine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" y="3538728"/>
            <a:ext cx="91440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26280" y="2944368"/>
            <a:ext cx="4480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4617720" y="30998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RANDOM_STATE=42 ensures reproducibility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7160" y="3657600"/>
            <a:ext cx="502920" cy="59436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137160" y="36576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13232" y="3657600"/>
            <a:ext cx="3657600" cy="59436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804672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5: Presentation Layer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04672" y="39684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  |  RBAC login  |  4 pages  |  Auditor feedback  |  Actionability rate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26280" y="3657600"/>
            <a:ext cx="44805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617720" y="38130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Disclaimer: anomaly ≠ fraud on every flag page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9A480D8-10BF-414C-2D2B-151B8A22B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815961"/>
            <a:ext cx="7315200" cy="62881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Technology Stack &amp; Tools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Zero-cost open-source stack — fully reproducible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22960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822960"/>
            <a:ext cx="28346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8600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PostgreSQL 18  (Database)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46888" y="1280160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tables, 26 indexes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RBAC roles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36392" y="822960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36392" y="822960"/>
            <a:ext cx="2834640" cy="3840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227832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 Python 3.13  (Language)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1280160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development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for 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35624" y="822960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35624" y="822960"/>
            <a:ext cx="2834640" cy="384048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27064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scikit-learn 1.9  (ML Framework)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280160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IsolationForest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module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2212848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7160" y="2212848"/>
            <a:ext cx="2834640" cy="38404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28600" y="2276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Streamlit 1.60  (Dashboard)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" y="267004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framework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pages, RBAC login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updates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36392" y="2212848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36392" y="2212848"/>
            <a:ext cx="2834640" cy="384048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227832" y="2276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🐼  pandas 3.0.5  (ETL)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246120" y="267004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manipulation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chunked CSV loading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35624" y="2212848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35624" y="2212848"/>
            <a:ext cx="2834640" cy="38404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227064" y="2276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SQLAlchemy 2.0  (ORM)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45352" y="267004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connection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queries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URL.create() auth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" y="3602736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7160" y="3602736"/>
            <a:ext cx="2834640" cy="384048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228600" y="36667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python-dotenv  (Security)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46888" y="4059936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in .env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GitHub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36392" y="3602736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136392" y="3602736"/>
            <a:ext cx="2834640" cy="384048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3227832" y="36667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PyTest 9.1.1  (Testing)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246120" y="4059936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tests across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testing levels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pass rate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35624" y="3602736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35624" y="3602736"/>
            <a:ext cx="2834640" cy="384048"/>
          </a:xfrm>
          <a:prstGeom prst="rect">
            <a:avLst/>
          </a:prstGeom>
          <a:solidFill>
            <a:srgbClr val="242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227064" y="36667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  GitHub  (Version Control)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245352" y="4059936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branches + 3 tags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v1.0, v2.0, v3.0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repository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Results — Database &amp; ETL Pipeline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 DoD Contracts from USASpending.gov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1600200" cy="777240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37160" y="804672"/>
            <a:ext cx="1600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 GB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124712"/>
            <a:ext cx="118872" cy="9144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74520" y="804672"/>
            <a:ext cx="1600200" cy="7772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874520" y="804672"/>
            <a:ext cx="1600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 chunks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124712"/>
            <a:ext cx="118872" cy="9144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1880" y="804672"/>
            <a:ext cx="1600200" cy="7772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611880" y="804672"/>
            <a:ext cx="1600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+ normalize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1124712"/>
            <a:ext cx="118872" cy="9144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49240" y="804672"/>
            <a:ext cx="1600200" cy="7772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349240" y="804672"/>
            <a:ext cx="1600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anomalies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1124712"/>
            <a:ext cx="118872" cy="9144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86600" y="804672"/>
            <a:ext cx="1600200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086600" y="804672"/>
            <a:ext cx="1600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" y="1737360"/>
            <a:ext cx="1417320" cy="10058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37160" y="17830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Processed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(File 1 test run)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18488" y="1737360"/>
            <a:ext cx="1417320" cy="10058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618488" y="17830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47,540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618488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Loaded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(94% retention)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99816" y="1737360"/>
            <a:ext cx="1417320" cy="1005840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3099816" y="17830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7,783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3099816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81144" y="1737360"/>
            <a:ext cx="1417320" cy="100584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581144" y="17830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46,904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581144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62472" y="1737360"/>
            <a:ext cx="1417320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062472" y="17830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621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062472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Outliers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 &gt; 3σ)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43800" y="1737360"/>
            <a:ext cx="1417320" cy="100584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543800" y="17830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7543800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7160" y="2880360"/>
            <a:ext cx="8869680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228600" y="29169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Performance: 62.6 seconds for 50,000 rows  |  798 records/second throughput  |  Full dataset (~1M rows) estimated 18-20 minutes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37160" y="3337560"/>
            <a:ext cx="8869680" cy="1188720"/>
          </a:xfrm>
          <a:prstGeom prst="rect">
            <a:avLst/>
          </a:prstGeom>
          <a:noFill/>
          <a:ln w="12700">
            <a:solidFill>
              <a:srgbClr val="BDD7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77D7CDD-8208-06AF-A588-F310F06B2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281" y="3364992"/>
            <a:ext cx="2301438" cy="11278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Results — ML Detection Module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 + Z-Score — dual-algorithm approach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42062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804672"/>
            <a:ext cx="42062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8600" y="868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ISOLATION FOREST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" y="1261872"/>
            <a:ext cx="3986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47,540 real records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5 (log amount, z-score, vendor frequency,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 day of year, year-end binary indicator)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Contamination: 0.05 (flags ~5% as anomalous)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seed: 42 (reproducible results)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2,377 flags (5.0%) in 2.2 seconds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recall: 64.5% (20/31 detected)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" y="2834640"/>
            <a:ext cx="420624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" y="2834640"/>
            <a:ext cx="4206240" cy="3840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28600" y="2898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Z-SCORE BASELINE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" y="3291840"/>
            <a:ext cx="3986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3.0 standard deviations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Grouping: NAICS industry category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621 price outliers (1.3%)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z-score of flagged: 6.32σ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Interpretable: auditors understand σ without ML knowledge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804672"/>
            <a:ext cx="1463040" cy="16002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26280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2,397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153619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Unique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Flags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62472" y="804672"/>
            <a:ext cx="1463040" cy="16002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062472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1,776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062472" y="153619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Flags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98664" y="804672"/>
            <a:ext cx="1463040" cy="160020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598664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621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98664" y="153619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Outlier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Flags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26280" y="2633472"/>
            <a:ext cx="1463040" cy="1600200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26280" y="2743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64.5%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336499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(synthetic)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62472" y="2633472"/>
            <a:ext cx="1463040" cy="16002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062472" y="2743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6.32σ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062472" y="336499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Z-Score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(price outliers)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98664" y="2633472"/>
            <a:ext cx="1463040" cy="1600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598664" y="2743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2.2s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598664" y="336499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3AC0549-D27F-9A91-465A-45668F7B2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897" y="2328806"/>
            <a:ext cx="2084503" cy="11854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Results — Streamlit Dashboard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peer feedback commitments implemented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2084832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804672"/>
            <a:ext cx="2084832" cy="3657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0312" y="8595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D1: RBAC Login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28600" y="1243584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/ admin roles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Streamlit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dual-layer enforcement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0008" y="804672"/>
            <a:ext cx="2084832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50008" y="804672"/>
            <a:ext cx="2084832" cy="3657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423160" y="8595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D2: Overview Page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441448" y="1243584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metrics: 95,080 contracts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2,397 flags, 15,554 vendors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Flags-by-type chart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62856" y="804672"/>
            <a:ext cx="2084832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62856" y="804672"/>
            <a:ext cx="2084832" cy="36576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636008" y="8595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D3: Disclaimer Banner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1243584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"Anomaly ≠ fraud"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flagged page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design [Peers 1,2,3]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75704" y="804672"/>
            <a:ext cx="2084832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75704" y="804672"/>
            <a:ext cx="2084832" cy="36576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48856" y="8595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D4: Dual Scores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67144" y="1243584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score + z-score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 per flag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[Peer 1 commitment]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7160" y="2724912"/>
            <a:ext cx="2084832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7160" y="2724912"/>
            <a:ext cx="2084832" cy="365760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210312" y="277977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D5: XAI Factors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28600" y="3163824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explanation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flagged contract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[Peer 3 commitment]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50008" y="2724912"/>
            <a:ext cx="2084832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350008" y="2724912"/>
            <a:ext cx="2084832" cy="36576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2423160" y="277977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D6: Feedback Buttons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41448" y="3163824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👍👎 per flag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actionability rate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target [Peer 2]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62856" y="2724912"/>
            <a:ext cx="2084832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62856" y="2724912"/>
            <a:ext cx="2084832" cy="3657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636008" y="277977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D7: Agency Analysis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654296" y="3163824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+ flag rate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awarding agency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chart visualizations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75704" y="2724912"/>
            <a:ext cx="2084832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75704" y="2724912"/>
            <a:ext cx="2084832" cy="3657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848856" y="277977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D8: Admin Settings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867144" y="3163824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configuration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display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role only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Results — Comprehensive Testing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tests across 4 levels — 100% pass rate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2084832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804672"/>
            <a:ext cx="2084832" cy="3657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0312" y="8595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" y="1234440"/>
            <a:ext cx="1938528" cy="4114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10312" y="12344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tests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" y="17099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test_ml_module.py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" y="2011680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module verification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connectivity, ETL transform, z-score logic,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detection, XAI engine, DB storage, features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50008" y="804672"/>
            <a:ext cx="2084832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50008" y="804672"/>
            <a:ext cx="2084832" cy="36576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423160" y="8595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1234440"/>
            <a:ext cx="1938528" cy="41148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423160" y="12344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tests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17099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test_system.py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441448" y="2011680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Cross-module communication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ETL→DB, DB→ML, ML→Dashboard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verification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62856" y="804672"/>
            <a:ext cx="2084832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62856" y="804672"/>
            <a:ext cx="2084832" cy="365760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636008" y="8595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36008" y="1234440"/>
            <a:ext cx="1938528" cy="411480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636008" y="12344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tests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7099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test_system.py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654296" y="2011680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system behaviour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data integrity,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RBAC, flag rate validation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75704" y="804672"/>
            <a:ext cx="2084832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75704" y="804672"/>
            <a:ext cx="2084832" cy="36576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848856" y="8595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Testing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48856" y="1234440"/>
            <a:ext cx="1938528" cy="41148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48856" y="12344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tests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6848856" y="17099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test_system.py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867144" y="2011680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success criteria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criteria verified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executable tests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7160" y="3858768"/>
            <a:ext cx="8869680" cy="502920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228600" y="391363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GRAND TOTAL: 66 / 66 TESTS PASSED  |  100% Pass Rate  |  7.68 Seconds  |  White-box + Black-box testing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D52CE99-4505-97CC-AEC2-B337FDB6F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623" y="2456799"/>
            <a:ext cx="2236416" cy="13836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Results — Performance Evaluation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and qualitative metrics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7160" y="804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Metrics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" y="1143000"/>
            <a:ext cx="4206240" cy="310896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82880" y="1179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Recall (synthetic)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1795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64.5%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1795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&gt;50%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1795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" y="147218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82880" y="1508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Throughput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15087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798 rec/s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1508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&gt;500 rec/s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1508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1801368"/>
            <a:ext cx="4206240" cy="310896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82880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 Latency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18379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seconds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18379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 seconds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183794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" y="2130552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82880" y="21671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Load Time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1671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 seconds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2167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 seconds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1671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7160" y="2459736"/>
            <a:ext cx="4206240" cy="310896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182880" y="24963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Rate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2496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2496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24963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37160" y="2788920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82880" y="28254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Pass Rate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011680" y="2825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(66/66)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017520" y="28254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28254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37160" y="3118104"/>
            <a:ext cx="4206240" cy="310896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82880" y="3154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Retention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011680" y="31546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3017520" y="31546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931920" y="3154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37160" y="3447288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182880" y="3483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011680" y="34838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 met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017520" y="34838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3931920" y="34838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526280" y="804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Metrics — Dashboard Usability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26280" y="1143000"/>
            <a:ext cx="44805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4617720" y="11795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vs fraud distinction clear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617720" y="143560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Disclaimer banner on every flag page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26280" y="1801368"/>
            <a:ext cx="4480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4617720" y="18379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interpretable without ML knowledge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4617720" y="20939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IF score + z-score with severity colors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26280" y="2459736"/>
            <a:ext cx="44805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4617720" y="24963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triggers explained in plain language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4617720" y="27523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Expandable XAI risk factors per contract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26280" y="3118104"/>
            <a:ext cx="4480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4617720" y="31546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submission easy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4617720" y="34107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One-click 👍👎 per flag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26280" y="3776472"/>
            <a:ext cx="44805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4617720" y="38130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and access clearly communicated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4617720" y="40690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Username + role in sidebar; restricted pages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26280" y="4453128"/>
            <a:ext cx="4480560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4572000" y="4480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Actionability Rate: Pending analyst review  |  Target: 85%  (Herreros-Martinez et al., 2025)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&amp; 4. Ethics, Security &amp; Governance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design embedded at every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2834640" cy="187452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804672"/>
            <a:ext cx="2834640" cy="38404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8600" y="868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Anomaly ≠ Fraud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" y="1261872"/>
            <a:ext cx="2615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principle embedded in: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Dashboard disclaimer banner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Flag type labels (anomaly, not fraud)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Plain-language XAI explanations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Ethics Policy Section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acknowledgement form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36392" y="804672"/>
            <a:ext cx="2834640" cy="187452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36392" y="804672"/>
            <a:ext cx="28346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227832" y="868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Defense in Depth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1261872"/>
            <a:ext cx="2615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enforced at TWO layers: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Streamlit application layer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database engine layer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OWASP A01:2025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access logged to audit_log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35624" y="804672"/>
            <a:ext cx="2834640" cy="187452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35624" y="804672"/>
            <a:ext cx="2834640" cy="384048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27064" y="868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7 Bias Sources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261872"/>
            <a:ext cx="2615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Policy documents: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Training data distribution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Fiscal year-end temporal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Vendor frequency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Small vendor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False positive concentration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Synthetic label evaluation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Human confirmation bias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7160" y="2816352"/>
            <a:ext cx="2834640" cy="187452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7160" y="2816352"/>
            <a:ext cx="2834640" cy="384048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28600" y="2880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Actionability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" y="3273552"/>
            <a:ext cx="2615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handling: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Thumbs down = not_actionable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Actionability rate tracked live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Target: 85% (Herreros-Martinez)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Declining rate triggers review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action before human review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36392" y="2816352"/>
            <a:ext cx="2834640" cy="187452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36392" y="2816352"/>
            <a:ext cx="2834640" cy="38404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227832" y="2880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Data Privacy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246120" y="3273552"/>
            <a:ext cx="2615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data minimization: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of 225 columns selected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names protected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disclosure of flags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in .env (not GitHub)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rotation in production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35624" y="2816352"/>
            <a:ext cx="2834640" cy="187452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35624" y="2816352"/>
            <a:ext cx="2834640" cy="3840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227064" y="2880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NIST AI RMF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45352" y="3273552"/>
            <a:ext cx="2615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AI RMF 1.0: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Fairness: NAICS z-score grouping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Transparency: XAI explanations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Reliability: 66 tests verified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Accountability: full audit_log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 schedule planned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Course &amp; Program Alignment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integrates all 9 MSIT program courses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22960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822960"/>
            <a:ext cx="28346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8600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MSIT 5210 — Databases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46888" y="1280160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5-table normalized schema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indexes, 3 views, RBAC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36392" y="822960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36392" y="822960"/>
            <a:ext cx="2834640" cy="3840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227832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MSIT 5226 — Foundations of ML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1280160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 + z-score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contamination tuning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35624" y="822960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35624" y="822960"/>
            <a:ext cx="2834640" cy="384048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27064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MSIT 5214 — Algorithms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280160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 computation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chunked ETL complexity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2212848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7160" y="2212848"/>
            <a:ext cx="2834640" cy="384048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28600" y="2276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MSIT 5260 — Foundations of HCI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" y="267004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dashboard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plain language factors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36392" y="2212848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36392" y="2212848"/>
            <a:ext cx="2834640" cy="38404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227832" y="2276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MSIT 5270 — Cybersecurity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246120" y="267004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A01/A02/A09:2025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dual-layer RBAC + audit log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35624" y="2212848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35624" y="2212848"/>
            <a:ext cx="2834640" cy="38404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227064" y="2276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5115 — Law &amp; Ethics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45352" y="267004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Policy v1.0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bias sources + NIST RMF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" y="3602736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7160" y="3602736"/>
            <a:ext cx="2834640" cy="384048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228600" y="36667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5611 — Managing Projects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46888" y="4059936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Log + Risk Register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0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-week </a:t>
            </a: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tracking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36392" y="3602736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136392" y="3602736"/>
            <a:ext cx="2834640" cy="3840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3227832" y="36667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MSIT 5216 — Programming Lang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246120" y="4059936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3.13 + SQL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6 code modules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35624" y="3602736"/>
            <a:ext cx="28346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35624" y="3602736"/>
            <a:ext cx="28346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227064" y="36667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MSIT 5250 — Software Engineering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245352" y="4059936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66-test suite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architecture + SCM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Conclusion &amp; Contributions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IntegriScan achieved and why it matters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4206240" cy="19659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804672"/>
            <a:ext cx="4206240" cy="384048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8600" y="868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WAS ACHIEVED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" y="126187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5-module system built at zero cost: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47,540 real contracts processed and analyzed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2,397 anomaly flags with dual scores + XAI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Streamlit dashboard — all 12 peer commitments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66/66 tests — 100% pass rate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7 proposal success criteria verified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Ethics Policy + Data Dictionary + PM Log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804672"/>
            <a:ext cx="4480560" cy="196596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804672"/>
            <a:ext cx="4480560" cy="3840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17720" y="8686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WHY IT MATTERS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1261872"/>
            <a:ext cx="4261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a real governance accountability gap: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Zero-cost deployment — any government agency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Reproducible with public open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Non-technical auditor interface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Explainable AI — not a black box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Human-in-the-loop design throughout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Post-Capstone commercial roadmap planned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" y="2926080"/>
            <a:ext cx="420624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7160" y="2926080"/>
            <a:ext cx="4206240" cy="384048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28600" y="2990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4 CONTRIBUTIONS TO FIELD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" y="3383280"/>
            <a:ext cx="3986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Open-source govt procurement anomaly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using real USASpending.gov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Live actionability feedback as evaluation metric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XAI risk factors embedded in auditor dashboard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Complete academic + technical documentation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package for institutional replication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26280" y="2926080"/>
            <a:ext cx="448056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26280" y="2926080"/>
            <a:ext cx="4480560" cy="38404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617720" y="29900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5 LESSONS LEARNED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3383280"/>
            <a:ext cx="4261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Peer review generates concrete improvements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Auditor actionability &gt; precision/recall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Anomaly ≠ fraud must be in the code itself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Configuration management = reproducibility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Dataset choice shapes all design decisions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Future Work — Post-Capstone Roadmap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Technologies Ltd. — 5-phase development 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2084832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804672"/>
            <a:ext cx="2084832" cy="59436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0312" y="8412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0312" y="10789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" y="1508760"/>
            <a:ext cx="73152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74904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— TOTP, SSO, YubiKey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" y="2075688"/>
            <a:ext cx="73152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74904" y="2075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session revocation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" y="2642616"/>
            <a:ext cx="73152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74904" y="264261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secrets store (AWS)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6888" y="3209544"/>
            <a:ext cx="73152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74904" y="32095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Second-person config approval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7160" y="4114800"/>
            <a:ext cx="2084832" cy="25603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37160" y="413308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50008" y="804672"/>
            <a:ext cx="2084832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350008" y="804672"/>
            <a:ext cx="2084832" cy="59436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423160" y="8412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0789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Deployment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59736" y="1508760"/>
            <a:ext cx="73152" cy="20116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2587752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 — AWS/Azure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59736" y="2075688"/>
            <a:ext cx="73152" cy="20116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2587752" y="2075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containerization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59736" y="2642616"/>
            <a:ext cx="73152" cy="20116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2587752" y="264261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scheduled ETL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59736" y="3209544"/>
            <a:ext cx="73152" cy="20116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2587752" y="32095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database backup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50008" y="4114800"/>
            <a:ext cx="2084832" cy="25603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2350008" y="413308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4-9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62856" y="804672"/>
            <a:ext cx="2084832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62856" y="804672"/>
            <a:ext cx="2084832" cy="59436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636008" y="8412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636008" y="10789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72584" y="1508760"/>
            <a:ext cx="73152" cy="201168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4800600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layer from feedback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72584" y="2075688"/>
            <a:ext cx="73152" cy="201168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4800600" y="2075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model review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72584" y="2642616"/>
            <a:ext cx="73152" cy="201168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800600" y="264261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analysis by category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72584" y="3209544"/>
            <a:ext cx="73152" cy="201168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4800600" y="32095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Multi-dataset support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62856" y="4114800"/>
            <a:ext cx="2084832" cy="256032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4562856" y="413308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10-15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75704" y="804672"/>
            <a:ext cx="2084832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775704" y="804672"/>
            <a:ext cx="2084832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6848856" y="8412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848856" y="10789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85432" y="1508760"/>
            <a:ext cx="73152" cy="20116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7013448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+ WhatsApp alerts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85432" y="2075688"/>
            <a:ext cx="73152" cy="20116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7013448" y="2075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GamLink super-app (Gambia)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885432" y="2642616"/>
            <a:ext cx="73152" cy="20116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7013448" y="264261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for African govts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885432" y="3209544"/>
            <a:ext cx="73152" cy="20116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7013448" y="32095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ECOWAS market entry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775704" y="4114800"/>
            <a:ext cx="2084832" cy="2560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6775704" y="413308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16-24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37160" y="450799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Research Questions identified for academic follow-up  |  15 roadmap items documented in IntegriScan_Future_Work_Product_Roadmap_v3.docx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7th Edition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8229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Bai, J., &amp; Qiu, T. (2023). </a:t>
            </a:r>
            <a:r>
              <a:rPr lang="en-US" sz="10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procurement fraud detection with machine learning</a:t>
            </a: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arXiv. https://arxiv.org/abs/2304.10105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24358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Bennett, L. (2024, August 13). </a:t>
            </a:r>
            <a:r>
              <a:rPr lang="en-US" sz="10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configuration management</a:t>
            </a: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Guru99. https://www.guru99.com/software-configuration-management-tutorial.html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16642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Herreros-Martinez, A., et al. (2025). Applied ML to anomaly detection in enterprise purchase processes. </a:t>
            </a:r>
            <a:r>
              <a:rPr lang="en-US" sz="10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Information, 16(3</a:t>
            </a: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177. https://doi.org/10.3390/info16030177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20848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Letaw, L. (2024). </a:t>
            </a:r>
            <a:r>
              <a:rPr lang="en-US" sz="10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Handbook of software engineering methods</a:t>
            </a: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Oregon State University. https://open.oregonstate.education/setextbook/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250545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Institute of Standards and Technology. (2023). </a:t>
            </a:r>
            <a:r>
              <a:rPr lang="en-US" sz="10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Management Framework </a:t>
            </a: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RMF 1.0) (NIST AI 100-1). https://doi.org/10.6028/NIST.AI.100-1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29260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OECD. (2025). </a:t>
            </a:r>
            <a:r>
              <a:rPr lang="en-US" sz="10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in public procurement</a:t>
            </a: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https://www.oecd.org/en/topics/sub-issues/integrity-in-public-procurement.html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334670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Foundation. (2026). </a:t>
            </a:r>
            <a:r>
              <a:rPr lang="en-US" sz="10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</a:t>
            </a: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https://owasp.org/Top10/2025/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" y="376732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Summers, B. L. (2020). </a:t>
            </a:r>
            <a:r>
              <a:rPr lang="en-US" sz="10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methods for software engineering</a:t>
            </a: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Auerbach Publishers.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" y="41879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USASpending.gov. (2026). </a:t>
            </a:r>
            <a:r>
              <a:rPr lang="en-US" sz="10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 DoD contracts bulk download</a:t>
            </a: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https://www.usaspending.gov/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" y="4572000"/>
            <a:ext cx="8869680" cy="2743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28600" y="45994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| github.com/sarredrissa-dev/procurement-anomaly-detection | "Follow the money. Flag the risk."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82880" y="47960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IntegriScan | MSIT 5910 Capstone | University of the People | Edrissa Sarr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2475</Words>
  <Application>Microsoft Office PowerPoint</Application>
  <PresentationFormat>On-screen Show (16:9)</PresentationFormat>
  <Paragraphs>478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Edrissa Sarr</dc:creator>
  <cp:lastModifiedBy>Edrissa Sarr</cp:lastModifiedBy>
  <cp:revision>1</cp:revision>
  <dcterms:created xsi:type="dcterms:W3CDTF">2026-10-10T21:53:00Z</dcterms:created>
  <dcterms:modified xsi:type="dcterms:W3CDTF">2026-10-24T08:15:13Z</dcterms:modified>
</cp:coreProperties>
</file>